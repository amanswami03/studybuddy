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8" r:id="rId3"/>
    <p:sldId id="303" r:id="rId4"/>
    <p:sldId id="293" r:id="rId5"/>
    <p:sldId id="301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7" y="1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3B884-88DF-5166-C437-F4CC5CFF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0EA5A4E-EB82-8B36-C6BC-D10C7637E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1CCC2B9-D48B-AF90-25BA-2527F853BF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74288017-4466-53F6-CA9C-5A0947743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81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154F-2DBB-4BB1-5700-99C335CB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980F620-01FF-6FC5-4F16-906B0F6D6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C35FEFE-CE87-996A-396B-70AAEE56FD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8C58942-8C36-A3CB-5B27-2B7DB7276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649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5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36.jpe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ad.gov.in/" TargetMode="External"/><Relationship Id="rId13" Type="http://schemas.openxmlformats.org/officeDocument/2006/relationships/image" Target="../media/image37.png"/><Relationship Id="rId3" Type="http://schemas.openxmlformats.org/officeDocument/2006/relationships/hyperlink" Target="https://roboflow.com/" TargetMode="External"/><Relationship Id="rId7" Type="http://schemas.openxmlformats.org/officeDocument/2006/relationships/hyperlink" Target="https://www.postgresql.org/docs/" TargetMode="Externa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ailwindcss.com/docs" TargetMode="External"/><Relationship Id="rId11" Type="http://schemas.openxmlformats.org/officeDocument/2006/relationships/hyperlink" Target="https://www.microsoft.com/en-us/learning/certification-verification.aspx" TargetMode="External"/><Relationship Id="rId5" Type="http://schemas.openxmlformats.org/officeDocument/2006/relationships/hyperlink" Target="https://cloud.google.com/use-cases/ocr" TargetMode="External"/><Relationship Id="rId15" Type="http://schemas.openxmlformats.org/officeDocument/2006/relationships/hyperlink" Target="https://bit.ly/HackOps_Prototype" TargetMode="External"/><Relationship Id="rId10" Type="http://schemas.openxmlformats.org/officeDocument/2006/relationships/hyperlink" Target="https://www.workpro.com.au/" TargetMode="External"/><Relationship Id="rId4" Type="http://schemas.openxmlformats.org/officeDocument/2006/relationships/hyperlink" Target="https://github.com/golang/go" TargetMode="External"/><Relationship Id="rId9" Type="http://schemas.openxmlformats.org/officeDocument/2006/relationships/hyperlink" Target="https://www.digilocker.gov.in/" TargetMode="External"/><Relationship Id="rId1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15939" y="1017234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957907" h="7732451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302691" y="2087568"/>
            <a:ext cx="3203509" cy="3426237"/>
            <a:chOff x="0" y="0"/>
            <a:chExt cx="6407018" cy="68524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975694" y="852155"/>
            <a:ext cx="4876675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8"/>
              </a:lnSpc>
            </a:pPr>
            <a:endParaRPr dirty="0"/>
          </a:p>
          <a:p>
            <a:pPr algn="ctr">
              <a:lnSpc>
                <a:spcPts val="4128"/>
              </a:lnSpc>
            </a:pPr>
            <a:r>
              <a:rPr lang="en-US" sz="3800" b="1" dirty="0" err="1">
                <a:latin typeface="Garamond Bold"/>
                <a:ea typeface="Garamond Bold"/>
                <a:cs typeface="Garamond Bold"/>
                <a:sym typeface="Garamond Bold"/>
              </a:rPr>
              <a:t>HackOps</a:t>
            </a:r>
            <a:endParaRPr lang="en-US" sz="3800" b="1" dirty="0">
              <a:latin typeface="Garamond Bold"/>
              <a:ea typeface="Garamond Bold"/>
              <a:cs typeface="Garamond Bold"/>
              <a:sym typeface="Garamond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331286" y="-526757"/>
            <a:ext cx="10363200" cy="2076450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1286" y="1824723"/>
            <a:ext cx="8558746" cy="430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endParaRPr dirty="0"/>
          </a:p>
          <a:p>
            <a:pPr marL="398165" lvl="1" indent="-199083" algn="just">
              <a:lnSpc>
                <a:spcPts val="52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ID: </a:t>
            </a: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SIH25029</a:t>
            </a:r>
          </a:p>
          <a:p>
            <a:pPr marL="398165" lvl="1" indent="-199083" algn="just">
              <a:lnSpc>
                <a:spcPts val="52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</a:t>
            </a: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Authenticity Validator for Academia</a:t>
            </a:r>
          </a:p>
          <a:p>
            <a:pPr marL="398165" lvl="1" indent="-199083" algn="just">
              <a:lnSpc>
                <a:spcPts val="52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</a:t>
            </a: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Education</a:t>
            </a:r>
          </a:p>
          <a:p>
            <a:pPr marL="398165" lvl="1" indent="-199083" algn="just">
              <a:lnSpc>
                <a:spcPts val="52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</a:t>
            </a: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398165" lvl="1" indent="-199083" algn="just">
              <a:lnSpc>
                <a:spcPts val="52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ID:</a:t>
            </a: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  <a:p>
            <a:pPr marL="398165" lvl="1" indent="-199083" algn="just">
              <a:lnSpc>
                <a:spcPts val="52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</a:t>
            </a:r>
            <a:r>
              <a:rPr lang="en-US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HackOps</a:t>
            </a:r>
            <a:endParaRPr lang="en-US"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841366" y="6297"/>
            <a:ext cx="2209120" cy="1122868"/>
            <a:chOff x="0" y="0"/>
            <a:chExt cx="4418240" cy="2245736"/>
          </a:xfrm>
        </p:grpSpPr>
        <p:sp>
          <p:nvSpPr>
            <p:cNvPr id="11" name="Freeform 11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049632" y="286283"/>
            <a:ext cx="9667760" cy="58002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CERTIFYGUARD</a:t>
            </a:r>
            <a:br>
              <a:rPr lang="en-US" sz="2200" b="1" dirty="0">
                <a:latin typeface="Garamond" panose="02020404030301010803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2200" b="1" dirty="0">
              <a:latin typeface="Garamond" panose="02020404030301010803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2377" y="1095375"/>
            <a:ext cx="6316585" cy="28931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  <a:cs typeface="Arial" pitchFamily="34" charset="0"/>
              </a:rPr>
              <a:t>Proposed Solution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Role-Based Access Platform</a:t>
            </a:r>
            <a:r>
              <a:rPr lang="en-US" sz="1600" dirty="0"/>
              <a:t> – Unified portal for students, employers, universities, and admins with secure authentication and authorization.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AI-Powered Verification Engine</a:t>
            </a:r>
            <a:r>
              <a:rPr lang="en-US" sz="1600" dirty="0"/>
              <a:t> – OCR, anomaly detection, and image forensics to identify forged seals, tampered grades, and duplicate certificates.</a:t>
            </a:r>
            <a:r>
              <a:rPr lang="en-US" sz="1600" b="1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Blockchain-Backed Validation</a:t>
            </a:r>
            <a:r>
              <a:rPr lang="en-US" sz="1600" dirty="0"/>
              <a:t> – Immutable cryptographic hashes and QR code watermarks for future-proof digital certificate authentication.</a:t>
            </a:r>
            <a:r>
              <a:rPr lang="en-US" sz="1600" b="1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Admin Intelligence Dashboard</a:t>
            </a:r>
            <a:r>
              <a:rPr lang="en-US" sz="1600" dirty="0"/>
              <a:t> – Real-time fraud analytics, blacklisting system, ERP/database integration, and automated alerts for forged entries.</a:t>
            </a:r>
            <a:endParaRPr lang="en-US" sz="16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3610" y="209670"/>
            <a:ext cx="2100650" cy="656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HackOps</a:t>
            </a:r>
            <a:endParaRPr lang="en-IN" sz="2400" b="1" dirty="0">
              <a:latin typeface="Garamond" panose="02020404030301010803" pitchFamily="18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342" y="69671"/>
            <a:ext cx="2136668" cy="10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5245B5BE-A1C6-5AF9-9CD8-FC32E5C7E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7" y="4104128"/>
            <a:ext cx="6339722" cy="26468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  <a:cs typeface="Arial" pitchFamily="34" charset="0"/>
              </a:rPr>
              <a:t>How </a:t>
            </a:r>
            <a:r>
              <a:rPr lang="en-IN" sz="2200" b="1" dirty="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CertifyGuard Solves the Problem?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Eliminates manual </a:t>
            </a:r>
            <a:r>
              <a:rPr lang="en-US" sz="1600" dirty="0"/>
              <a:t>verification delays by providing a </a:t>
            </a:r>
            <a:r>
              <a:rPr lang="en-US" sz="1600" b="1" dirty="0"/>
              <a:t>digital, automated certificate validation system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Detects forged, tampered, or duplicate certificates using </a:t>
            </a:r>
            <a:r>
              <a:rPr lang="en-US" sz="1600" b="1" dirty="0"/>
              <a:t>AI, OCR, and image forensics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Ensures </a:t>
            </a:r>
            <a:r>
              <a:rPr lang="en-US" sz="1600" b="1" dirty="0"/>
              <a:t>tamper-proof authenticity</a:t>
            </a:r>
            <a:r>
              <a:rPr lang="en-US" sz="1600" dirty="0"/>
              <a:t> with blockchain-backed digital hashes and QR code watermarks.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Builds </a:t>
            </a:r>
            <a:r>
              <a:rPr lang="en-US" sz="1600" b="1" dirty="0"/>
              <a:t>trust and transparency</a:t>
            </a:r>
            <a:r>
              <a:rPr lang="en-US" sz="1600" dirty="0"/>
              <a:t> for employers, institutions, and government bodies through real-time verification and fraud monitoring.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4E016F9-AF61-3811-1806-C217754D9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79" y="1095375"/>
            <a:ext cx="5466807" cy="26468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  <a:cs typeface="Arial" pitchFamily="34" charset="0"/>
              </a:rPr>
              <a:t>Uniqueness &amp;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Dual Certificate Compatibility</a:t>
            </a:r>
            <a:r>
              <a:rPr lang="en-IN" sz="1600" dirty="0"/>
              <a:t> – Handles both legacy physical certificates via OCR and modern ERP-generated digital certificates via blockchain/QR.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Advanced Fraud Detection</a:t>
            </a:r>
            <a:r>
              <a:rPr lang="en-US" sz="1600" dirty="0"/>
              <a:t> – AI-powered anomaly checks for tampered grades, image manipulation, forged seals, and duplicate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Seamless ERP/Database Integration</a:t>
            </a:r>
            <a:r>
              <a:rPr lang="en-US" sz="1600" dirty="0"/>
              <a:t> – Supports both bulk uploads and real-time certificate validation at scale.</a:t>
            </a:r>
          </a:p>
          <a:p>
            <a:endParaRPr lang="en-US" sz="16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BAF693-9CAE-C5DE-AB22-3C3DA38C83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033"/>
          <a:stretch>
            <a:fillRect/>
          </a:stretch>
        </p:blipFill>
        <p:spPr>
          <a:xfrm>
            <a:off x="6583679" y="3988476"/>
            <a:ext cx="5043948" cy="28695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164B2B-CDD1-1C2C-BB00-09662EF16370}"/>
              </a:ext>
            </a:extLst>
          </p:cNvPr>
          <p:cNvSpPr txBox="1"/>
          <p:nvPr/>
        </p:nvSpPr>
        <p:spPr>
          <a:xfrm>
            <a:off x="9317082" y="6461352"/>
            <a:ext cx="2723865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Garamond" panose="02020404030301010803" pitchFamily="18" charset="0"/>
              </a:rPr>
              <a:t>Certificate Upload Process</a:t>
            </a:r>
            <a:endParaRPr lang="en-IN" sz="1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Graphic 2" descr="Lightbulb with solid fill">
            <a:extLst>
              <a:ext uri="{FF2B5EF4-FFF2-40B4-BE49-F238E27FC236}">
                <a16:creationId xmlns:a16="http://schemas.microsoft.com/office/drawing/2014/main" id="{78E55F1F-369E-9776-00ED-2576EACA6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1569" y="1095375"/>
            <a:ext cx="448952" cy="448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7458FC-2ACB-1F75-770C-CD992FE4E09E}"/>
              </a:ext>
            </a:extLst>
          </p:cNvPr>
          <p:cNvSpPr txBox="1"/>
          <p:nvPr/>
        </p:nvSpPr>
        <p:spPr>
          <a:xfrm>
            <a:off x="1795772" y="604701"/>
            <a:ext cx="817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Academic Authenticity Validation Platform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Garamond" panose="02020404030301010803" pitchFamily="18" charset="0"/>
              </a:rPr>
              <a:t>(Secure • Trusted • Tamper-Proof)</a:t>
            </a:r>
            <a:endParaRPr lang="en-I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3E73-26E7-74C1-7ED7-5880FB32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2330754E-9892-DD22-155F-070F7D08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044EFCE5-D36D-78B5-4C23-7D2F0F338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69" y="1083310"/>
            <a:ext cx="4961792" cy="48628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  <a:cs typeface="Arial" pitchFamily="34" charset="0"/>
              </a:rPr>
              <a:t>Technical Stack</a:t>
            </a:r>
          </a:p>
          <a:p>
            <a:r>
              <a:rPr lang="en-IN" sz="1600" b="1" dirty="0"/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React.js - Dynamic UI.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TailwindCSS</a:t>
            </a:r>
            <a:r>
              <a:rPr lang="en-IN" sz="1600" dirty="0"/>
              <a:t> – Responsive design and styling.</a:t>
            </a:r>
          </a:p>
          <a:p>
            <a:r>
              <a:rPr lang="en-IN" sz="1600" b="1" dirty="0"/>
              <a:t>Backend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Flask (Python) - AI/ML pipeline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Go (Gin Framework) - REST APIs &amp; business logic.</a:t>
            </a:r>
          </a:p>
          <a:p>
            <a:r>
              <a:rPr lang="en-IN" sz="1600" b="1" dirty="0"/>
              <a:t>Database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PostgreSQL - Secure certificate storage.</a:t>
            </a:r>
          </a:p>
          <a:p>
            <a:r>
              <a:rPr lang="en-IN" sz="1600" b="1" dirty="0"/>
              <a:t>AI / ML Pipeline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EasyOCR</a:t>
            </a:r>
            <a:r>
              <a:rPr lang="en-IN" sz="1600" dirty="0"/>
              <a:t> &amp; Tesseract -  OCR text extraction.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TF-IDF + Logistic Regression - Text anomaly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ResNet18 CNN - Image forgery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Fusion Layer - Verdict: Valid/Fake.</a:t>
            </a:r>
          </a:p>
          <a:p>
            <a:r>
              <a:rPr lang="en-IN" sz="1600" b="1" dirty="0"/>
              <a:t>Blockchain Validation 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Web3.py + Cryptography - Immutable hash storage.</a:t>
            </a:r>
          </a:p>
          <a:p>
            <a:r>
              <a:rPr lang="en-IN" sz="1600" b="1" dirty="0"/>
              <a:t>Deployment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Docker - Containerized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gunicorn</a:t>
            </a:r>
            <a:r>
              <a:rPr lang="en-IN" sz="1600" dirty="0"/>
              <a:t> - </a:t>
            </a:r>
            <a:r>
              <a:rPr lang="en-IN" sz="1600" dirty="0" err="1"/>
              <a:t>FlaskAPI</a:t>
            </a:r>
            <a:r>
              <a:rPr lang="en-IN" sz="1600" dirty="0"/>
              <a:t> serve.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F28D1-5158-DA3A-9D14-5DEE6B4F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59A99012-1E83-3847-EC71-107366041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217" y="-7275"/>
            <a:ext cx="2066227" cy="105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014273-8153-D466-3453-A3CA05550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910" y="1083310"/>
            <a:ext cx="6008468" cy="4854253"/>
          </a:xfrm>
          <a:prstGeom prst="rect">
            <a:avLst/>
          </a:prstGeom>
        </p:spPr>
      </p:pic>
      <p:pic>
        <p:nvPicPr>
          <p:cNvPr id="1026" name="Picture 2" descr="A BEGINNER'S GUIDE TO REACT JS - 2023 EDITION, Russia">
            <a:extLst>
              <a:ext uri="{FF2B5EF4-FFF2-40B4-BE49-F238E27FC236}">
                <a16:creationId xmlns:a16="http://schemas.microsoft.com/office/drawing/2014/main" id="{741C3916-F73A-21CE-B14E-5D041DC0D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01" y="5946180"/>
            <a:ext cx="995931" cy="65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ilwindcss-icon - Free vector icons on creazilla.com">
            <a:extLst>
              <a:ext uri="{FF2B5EF4-FFF2-40B4-BE49-F238E27FC236}">
                <a16:creationId xmlns:a16="http://schemas.microsoft.com/office/drawing/2014/main" id="{65E06705-985E-D24D-E4DA-C01B8FC85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419" y="6061079"/>
            <a:ext cx="644619" cy="53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ython Logo, symbol, meaning, history, PNG, brand">
            <a:extLst>
              <a:ext uri="{FF2B5EF4-FFF2-40B4-BE49-F238E27FC236}">
                <a16:creationId xmlns:a16="http://schemas.microsoft.com/office/drawing/2014/main" id="{EF2AEAF3-9EDC-9ABD-4407-A8CD97911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87" y="6070228"/>
            <a:ext cx="942873" cy="53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o (programming language) - Wikipedia">
            <a:extLst>
              <a:ext uri="{FF2B5EF4-FFF2-40B4-BE49-F238E27FC236}">
                <a16:creationId xmlns:a16="http://schemas.microsoft.com/office/drawing/2014/main" id="{4F0978EA-7E36-89D0-05AB-BAD8D737B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0240" y="6113954"/>
            <a:ext cx="745286" cy="42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ostgreSQL - Wikipedia">
            <a:extLst>
              <a:ext uri="{FF2B5EF4-FFF2-40B4-BE49-F238E27FC236}">
                <a16:creationId xmlns:a16="http://schemas.microsoft.com/office/drawing/2014/main" id="{02D45F47-11B5-02B2-8DA9-8C96F1942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013" y="6070228"/>
            <a:ext cx="514407" cy="53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2+ Hundred Dockers Logo Royalty-Free Images, Stock Photos &amp; Pictures |  Shutterstock">
            <a:extLst>
              <a:ext uri="{FF2B5EF4-FFF2-40B4-BE49-F238E27FC236}">
                <a16:creationId xmlns:a16="http://schemas.microsoft.com/office/drawing/2014/main" id="{2785D0BC-34E0-A3D3-A8DC-024900719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780" y="6005415"/>
            <a:ext cx="595180" cy="59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86367DC7-943C-58B3-E433-FB1BCE9D84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0769" y="152709"/>
            <a:ext cx="2269264" cy="656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HackOps</a:t>
            </a:r>
            <a:endParaRPr lang="en-IN" sz="24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8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8659" y="1208104"/>
            <a:ext cx="5515896" cy="29854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Feasibility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Built on a secure, scalable tech stack with ERP integration and role-based access for easy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Reduces verification costs by up to 60% while ensuring compliance with IT Act &amp; GDPR.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Viability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market demand as 30–40% of employers face certificate fraud; ready for large- scale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ROI through fraud prevention, HR savings, and long-term adoption via blockchain validation.</a:t>
            </a:r>
            <a:endParaRPr lang="en-US" sz="1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0D2D935D-CBAF-9843-E883-1525ADEDD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9" y="4306266"/>
            <a:ext cx="2605432" cy="24006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Data Privacy &amp;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Scalability &amp;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Adoption Resistance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Fraud Attempts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069D99-7D26-8BC3-3A59-9E6E8EDF9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35" t="10321" r="2679" b="18705"/>
          <a:stretch>
            <a:fillRect/>
          </a:stretch>
        </p:blipFill>
        <p:spPr>
          <a:xfrm>
            <a:off x="5700584" y="4192754"/>
            <a:ext cx="6349902" cy="2107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4FF30-F7D9-F162-A75F-B7BBF7C38D37}"/>
              </a:ext>
            </a:extLst>
          </p:cNvPr>
          <p:cNvSpPr txBox="1"/>
          <p:nvPr/>
        </p:nvSpPr>
        <p:spPr>
          <a:xfrm>
            <a:off x="6275799" y="6307527"/>
            <a:ext cx="5306601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chemeClr val="tx2"/>
                </a:solidFill>
              </a:rPr>
              <a:t>       </a:t>
            </a:r>
            <a:r>
              <a:rPr lang="en-IN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Estimated Use Cases Of CertifyGuard </a:t>
            </a:r>
          </a:p>
        </p:txBody>
      </p:sp>
      <p:pic>
        <p:nvPicPr>
          <p:cNvPr id="10" name="Graphic 9" descr="Business Growth with solid fill">
            <a:extLst>
              <a:ext uri="{FF2B5EF4-FFF2-40B4-BE49-F238E27FC236}">
                <a16:creationId xmlns:a16="http://schemas.microsoft.com/office/drawing/2014/main" id="{8D05E35C-1C40-714E-D2D9-56AFEA01C8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9992" y="6326124"/>
            <a:ext cx="434907" cy="434907"/>
          </a:xfrm>
          <a:prstGeom prst="rect">
            <a:avLst/>
          </a:prstGeom>
        </p:spPr>
      </p:pic>
      <p:pic>
        <p:nvPicPr>
          <p:cNvPr id="13" name="Graphic 12" descr="Bar graph with upward trend with solid fill">
            <a:extLst>
              <a:ext uri="{FF2B5EF4-FFF2-40B4-BE49-F238E27FC236}">
                <a16:creationId xmlns:a16="http://schemas.microsoft.com/office/drawing/2014/main" id="{D32EBB9B-D12A-3399-46BA-2A6CD50DE9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6299" y="2837002"/>
            <a:ext cx="401408" cy="353334"/>
          </a:xfrm>
          <a:prstGeom prst="rect">
            <a:avLst/>
          </a:prstGeom>
        </p:spPr>
      </p:pic>
      <p:pic>
        <p:nvPicPr>
          <p:cNvPr id="15" name="Graphic 14" descr="Scales of justice with solid fill">
            <a:extLst>
              <a:ext uri="{FF2B5EF4-FFF2-40B4-BE49-F238E27FC236}">
                <a16:creationId xmlns:a16="http://schemas.microsoft.com/office/drawing/2014/main" id="{344544F0-F082-EBF3-9B15-61C08537F9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80759" y="1208104"/>
            <a:ext cx="401408" cy="401408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AA0FF437-593B-5D45-A498-AA41947734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3330" y="195554"/>
            <a:ext cx="2212042" cy="656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HackOps</a:t>
            </a:r>
            <a:endParaRPr lang="en-IN" sz="2400" b="1" dirty="0">
              <a:latin typeface="Garamond" panose="02020404030301010803" pitchFamily="18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21CC09E-6418-DF00-F0B7-571ADEFBD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584" y="1208104"/>
            <a:ext cx="6349902" cy="28931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</a:rPr>
              <a:t>Business Potential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EdTech &amp; Universities </a:t>
            </a:r>
            <a:r>
              <a:rPr lang="en-US" sz="1600" dirty="0"/>
              <a:t>- Seamless integration with ERP systems for issuing and verifying digital certificates.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Corporate &amp; HR Tech</a:t>
            </a:r>
            <a:r>
              <a:rPr lang="en-US" sz="1600" dirty="0"/>
              <a:t> - Recruitment platforms and enterprises needing large-scale credential verification.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Government &amp; Public Sector</a:t>
            </a:r>
            <a:r>
              <a:rPr lang="en-US" sz="1600" dirty="0"/>
              <a:t> - Unified verification system for education, licensing, and employment records.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Global Market Expansion</a:t>
            </a:r>
            <a:r>
              <a:rPr lang="en-US" sz="1600" dirty="0"/>
              <a:t> - Cross-border verification for international education and workforce mobility.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Revenue Model</a:t>
            </a:r>
            <a:r>
              <a:rPr lang="en-US" sz="1600" dirty="0"/>
              <a:t> - Subscription-based plans for institutions and enterprises ensuring recurring revenue.</a:t>
            </a:r>
          </a:p>
        </p:txBody>
      </p:sp>
      <p:pic>
        <p:nvPicPr>
          <p:cNvPr id="12" name="Graphic 11" descr="Coins with solid fill">
            <a:extLst>
              <a:ext uri="{FF2B5EF4-FFF2-40B4-BE49-F238E27FC236}">
                <a16:creationId xmlns:a16="http://schemas.microsoft.com/office/drawing/2014/main" id="{35190FE6-ADB6-DE7E-96AB-1A58EDB143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6655" y="1208104"/>
            <a:ext cx="401408" cy="401408"/>
          </a:xfrm>
          <a:prstGeom prst="rect">
            <a:avLst/>
          </a:prstGeom>
        </p:spPr>
      </p:pic>
      <p:sp>
        <p:nvSpPr>
          <p:cNvPr id="17" name="TextBox 8">
            <a:extLst>
              <a:ext uri="{FF2B5EF4-FFF2-40B4-BE49-F238E27FC236}">
                <a16:creationId xmlns:a16="http://schemas.microsoft.com/office/drawing/2014/main" id="{E1A4E482-112B-75DD-0204-AA5ACD28A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60" y="4306266"/>
            <a:ext cx="2869695" cy="24006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Mitigation</a:t>
            </a:r>
          </a:p>
          <a:p>
            <a:r>
              <a:rPr lang="en-IN" sz="1600" dirty="0"/>
              <a:t>Encryption + Blockchain + Role-based access.</a:t>
            </a:r>
          </a:p>
          <a:p>
            <a:r>
              <a:rPr lang="en-US" sz="1600" dirty="0"/>
              <a:t>Optimized backend + AI model updates.</a:t>
            </a:r>
            <a:endParaRPr lang="en-IN" sz="1600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r>
              <a:rPr lang="en-US" sz="1600" dirty="0"/>
              <a:t>ERP Integration + User Training for smooth onboarding.</a:t>
            </a:r>
            <a:endParaRPr lang="en-IN" sz="1600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r>
              <a:rPr lang="en-US" sz="1600" dirty="0"/>
              <a:t>Blockchain + Anomaly Detection + Security Testing.</a:t>
            </a:r>
            <a:endParaRPr lang="en-US" sz="1600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724F95-B64A-7C83-C893-CC1EB6CB9392}"/>
              </a:ext>
            </a:extLst>
          </p:cNvPr>
          <p:cNvCxnSpPr/>
          <p:nvPr/>
        </p:nvCxnSpPr>
        <p:spPr>
          <a:xfrm>
            <a:off x="2479053" y="4798142"/>
            <a:ext cx="24580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8724CE-85E8-F10D-EEC1-FC3EF74C6BC5}"/>
              </a:ext>
            </a:extLst>
          </p:cNvPr>
          <p:cNvCxnSpPr/>
          <p:nvPr/>
        </p:nvCxnSpPr>
        <p:spPr>
          <a:xfrm>
            <a:off x="2479053" y="5343832"/>
            <a:ext cx="24580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C7A13F-AD9E-851F-ADBD-984EDD8CF789}"/>
              </a:ext>
            </a:extLst>
          </p:cNvPr>
          <p:cNvCxnSpPr/>
          <p:nvPr/>
        </p:nvCxnSpPr>
        <p:spPr>
          <a:xfrm>
            <a:off x="2479053" y="5860026"/>
            <a:ext cx="24580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83AF73-6AAC-365D-7BB3-C8591C657875}"/>
              </a:ext>
            </a:extLst>
          </p:cNvPr>
          <p:cNvCxnSpPr>
            <a:cxnSpLocks/>
          </p:cNvCxnSpPr>
          <p:nvPr/>
        </p:nvCxnSpPr>
        <p:spPr>
          <a:xfrm>
            <a:off x="2479053" y="6299988"/>
            <a:ext cx="24580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Picture 2" descr="Challenge Icon - SlideTeam">
            <a:extLst>
              <a:ext uri="{FF2B5EF4-FFF2-40B4-BE49-F238E27FC236}">
                <a16:creationId xmlns:a16="http://schemas.microsoft.com/office/drawing/2014/main" id="{38157DCB-1EF1-6A1C-FB2B-F3B7D73D1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7" t="22964" r="27130" b="5866"/>
          <a:stretch>
            <a:fillRect/>
          </a:stretch>
        </p:blipFill>
        <p:spPr bwMode="auto">
          <a:xfrm>
            <a:off x="3183031" y="4366285"/>
            <a:ext cx="279067" cy="25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phic 24" descr="Question mark with solid fill">
            <a:extLst>
              <a:ext uri="{FF2B5EF4-FFF2-40B4-BE49-F238E27FC236}">
                <a16:creationId xmlns:a16="http://schemas.microsoft.com/office/drawing/2014/main" id="{36B2E65B-BFED-75B8-5E36-B991DB2941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97939" y="4366285"/>
            <a:ext cx="317090" cy="31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2ED9-F343-0118-B3D6-6BC99847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512E3F-1679-D411-EC2C-BD662F11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78917DE-12E4-2C38-07B0-FDEC046D8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77" y="3941440"/>
            <a:ext cx="5884092" cy="26468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Potential Impact On Target Audience </a:t>
            </a:r>
          </a:p>
          <a:p>
            <a:pPr lvl="0">
              <a:defRPr/>
            </a:pPr>
            <a:r>
              <a:rPr lang="en-US" sz="1600" b="1" dirty="0"/>
              <a:t>Government</a:t>
            </a:r>
            <a:r>
              <a:rPr lang="en-US" sz="1600" dirty="0"/>
              <a:t> – Reduce 70–80% fraud, save admin costs, boost Digital India.</a:t>
            </a:r>
          </a:p>
          <a:p>
            <a:pPr lvl="0">
              <a:defRPr/>
            </a:pPr>
            <a:r>
              <a:rPr lang="en-US" sz="1600" b="1" dirty="0"/>
              <a:t>Universities</a:t>
            </a:r>
            <a:r>
              <a:rPr lang="en-US" sz="1600" dirty="0"/>
              <a:t> – 75% less misuse, 65% workload reduction, stronger reputation.</a:t>
            </a:r>
          </a:p>
          <a:p>
            <a:pPr lvl="0">
              <a:defRPr/>
            </a:pPr>
            <a:r>
              <a:rPr lang="en-US" sz="1600" b="1" dirty="0"/>
              <a:t>Employers</a:t>
            </a:r>
            <a:r>
              <a:rPr lang="en-US" sz="1600" dirty="0"/>
              <a:t> – Up to 90% reduction in false hires, 50–60% reduction in HR verification costs, enabling trusted hiring.</a:t>
            </a:r>
            <a:br>
              <a:rPr lang="en-US" sz="1600" dirty="0"/>
            </a:br>
            <a:r>
              <a:rPr lang="en-US" sz="1600" b="1" dirty="0"/>
              <a:t>Students</a:t>
            </a:r>
            <a:r>
              <a:rPr lang="en-US" sz="1600" dirty="0"/>
              <a:t> – 100% authenticity, 60% faster verification, global acceptance.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1B7A38CC-D0C9-C5A9-2A82-56B58113C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2EF4D277-8540-F77C-8032-B6455E341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433" y="1479227"/>
            <a:ext cx="5745053" cy="51090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Benefits</a:t>
            </a:r>
          </a:p>
          <a:p>
            <a:r>
              <a:rPr lang="en-US" sz="1600" b="1" dirty="0"/>
              <a:t>Social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Builds trust in academic credentials, reducing fraud and fake degree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Enhances transparency between students, employers, and institutions.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Strengthens society’s confidence in the education system.</a:t>
            </a:r>
          </a:p>
          <a:p>
            <a:r>
              <a:rPr lang="en-US" sz="1600" b="1" dirty="0"/>
              <a:t>Economic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Saves time and cost of manual verification for universities, companies, and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Prevents economic losses due to fraudulent hiring.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Encourages a secure digital economy through blockchain-backed verification.</a:t>
            </a:r>
          </a:p>
          <a:p>
            <a:r>
              <a:rPr lang="en-US" sz="1600" b="1" dirty="0"/>
              <a:t>Educational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Ensures authentic recognition of student achievements.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Protects institutions’ reputation by reducing misuse of their name through fake certificates.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Facilitates global acceptance of Indian degrees through verified, tamper-proof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7426" name="Picture 17425">
            <a:extLst>
              <a:ext uri="{FF2B5EF4-FFF2-40B4-BE49-F238E27FC236}">
                <a16:creationId xmlns:a16="http://schemas.microsoft.com/office/drawing/2014/main" id="{8071933B-7ED5-E266-A2C8-130D13E73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05" y="1202065"/>
            <a:ext cx="5512195" cy="2574340"/>
          </a:xfrm>
          <a:prstGeom prst="rect">
            <a:avLst/>
          </a:prstGeom>
        </p:spPr>
      </p:pic>
      <p:pic>
        <p:nvPicPr>
          <p:cNvPr id="3" name="Graphic 2" descr="Graduation cap with solid fill">
            <a:extLst>
              <a:ext uri="{FF2B5EF4-FFF2-40B4-BE49-F238E27FC236}">
                <a16:creationId xmlns:a16="http://schemas.microsoft.com/office/drawing/2014/main" id="{51B2DA2C-D6F7-C643-6041-9EB4A32730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6937" y="3134850"/>
            <a:ext cx="641555" cy="641555"/>
          </a:xfrm>
          <a:prstGeom prst="rect">
            <a:avLst/>
          </a:prstGeom>
        </p:spPr>
      </p:pic>
      <p:pic>
        <p:nvPicPr>
          <p:cNvPr id="6" name="Graphic 5" descr="Briefcase with solid fill">
            <a:extLst>
              <a:ext uri="{FF2B5EF4-FFF2-40B4-BE49-F238E27FC236}">
                <a16:creationId xmlns:a16="http://schemas.microsoft.com/office/drawing/2014/main" id="{37463C02-5E7B-6173-1D84-B5128BF323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3658" y="3163504"/>
            <a:ext cx="504865" cy="504865"/>
          </a:xfrm>
          <a:prstGeom prst="rect">
            <a:avLst/>
          </a:prstGeom>
        </p:spPr>
      </p:pic>
      <p:pic>
        <p:nvPicPr>
          <p:cNvPr id="8" name="Graphic 7" descr="Schoolhouse with solid fill">
            <a:extLst>
              <a:ext uri="{FF2B5EF4-FFF2-40B4-BE49-F238E27FC236}">
                <a16:creationId xmlns:a16="http://schemas.microsoft.com/office/drawing/2014/main" id="{D23C5DF2-C517-0600-8518-3EA4EF3E2C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33267" y="3100427"/>
            <a:ext cx="572729" cy="572729"/>
          </a:xfrm>
          <a:prstGeom prst="rect">
            <a:avLst/>
          </a:prstGeom>
        </p:spPr>
      </p:pic>
      <p:pic>
        <p:nvPicPr>
          <p:cNvPr id="1026" name="Picture 2" descr="Untitled">
            <a:extLst>
              <a:ext uri="{FF2B5EF4-FFF2-40B4-BE49-F238E27FC236}">
                <a16:creationId xmlns:a16="http://schemas.microsoft.com/office/drawing/2014/main" id="{32B73250-231D-6E68-67D8-4F468CDE9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00" y="3086718"/>
            <a:ext cx="524205" cy="52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AAF3CC91-F263-C496-12F8-EF23F34AC1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95554"/>
            <a:ext cx="2289859" cy="656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HackOps</a:t>
            </a:r>
            <a:endParaRPr lang="en-IN" sz="24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44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5373" y="1267510"/>
            <a:ext cx="4217773" cy="4708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  <a:cs typeface="Arial" pitchFamily="34" charset="0"/>
              </a:rPr>
              <a:t>Research &amp; References</a:t>
            </a:r>
          </a:p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https://roboflow.com/</a:t>
            </a:r>
            <a:endParaRPr lang="en-US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https://github.com/golang/go</a:t>
            </a:r>
            <a:endParaRPr lang="en-US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https://cloud.google.com/use-cases/ocr</a:t>
            </a:r>
            <a:endParaRPr lang="en-US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</a:t>
            </a:r>
            <a:endParaRPr lang="en-US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https://www.postgresql.org/docs/</a:t>
            </a:r>
            <a:endParaRPr lang="en-US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https://nad.gov.in/</a:t>
            </a:r>
            <a:endParaRPr lang="en-US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https://www.digilocker.gov.in</a:t>
            </a: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https://www.workpro.com.au</a:t>
            </a: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https://www.microsoft.com/en-us/learning/certification-verification.aspx</a:t>
            </a:r>
            <a:endParaRPr lang="en-US" altLang="en-US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defRPr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200" b="1" dirty="0">
              <a:solidFill>
                <a:schemeClr val="tx2"/>
              </a:solidFill>
              <a:latin typeface="Garamond" panose="02020404030301010803" pitchFamily="18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B8B1DB-99CC-BB6A-E8F9-60CFD2E3F5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716" t="12040" r="3657" b="7345"/>
          <a:stretch>
            <a:fillRect/>
          </a:stretch>
        </p:blipFill>
        <p:spPr>
          <a:xfrm>
            <a:off x="4516136" y="1741617"/>
            <a:ext cx="7574048" cy="4283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2E1C31-2BEC-1079-4B84-D495E6863A6B}"/>
              </a:ext>
            </a:extLst>
          </p:cNvPr>
          <p:cNvSpPr txBox="1"/>
          <p:nvPr/>
        </p:nvSpPr>
        <p:spPr>
          <a:xfrm>
            <a:off x="6096000" y="1253690"/>
            <a:ext cx="4421852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Comparison With Existing Systems</a:t>
            </a:r>
            <a:endParaRPr lang="en-IN" sz="2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2E306E1-36B3-7F86-77C8-1971558CE7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95554"/>
            <a:ext cx="2323715" cy="6566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HackOps</a:t>
            </a:r>
            <a:endParaRPr lang="en-IN" sz="2400" b="1" dirty="0">
              <a:latin typeface="Garamond" panose="02020404030301010803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7B9822A-61B0-7893-5DE0-AAE84E02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73" y="5656211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9E08B-E0F7-82A5-3E49-39C822F83C2E}"/>
              </a:ext>
            </a:extLst>
          </p:cNvPr>
          <p:cNvSpPr txBox="1"/>
          <p:nvPr/>
        </p:nvSpPr>
        <p:spPr>
          <a:xfrm>
            <a:off x="254303" y="6080734"/>
            <a:ext cx="6764544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Garamond" panose="02020404030301010803" pitchFamily="18" charset="0"/>
              </a:rPr>
              <a:t>Demo Video Link</a:t>
            </a:r>
            <a:r>
              <a:rPr lang="en-IN" sz="2200" b="1">
                <a:solidFill>
                  <a:schemeClr val="tx2"/>
                </a:solidFill>
                <a:latin typeface="Garamond" panose="02020404030301010803" pitchFamily="18" charset="0"/>
              </a:rPr>
              <a:t>: </a:t>
            </a:r>
            <a:r>
              <a:rPr lang="en-IN" sz="2200" b="1">
                <a:solidFill>
                  <a:srgbClr val="FF0000"/>
                </a:solidFill>
                <a:latin typeface="Garamond" panose="02020404030301010803" pitchFamily="18" charset="0"/>
                <a:hlinkClick r:id="rId15"/>
              </a:rPr>
              <a:t>https://bit.ly/HackOps_Prototype</a:t>
            </a:r>
            <a:r>
              <a:rPr lang="en-IN" sz="2200" b="1">
                <a:solidFill>
                  <a:srgbClr val="FF0000"/>
                </a:solidFill>
                <a:latin typeface="Garamond" panose="02020404030301010803" pitchFamily="18" charset="0"/>
              </a:rPr>
              <a:t> </a:t>
            </a:r>
            <a:endParaRPr lang="en-IN" sz="22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9997</TotalTime>
  <Words>878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Arial Bold</vt:lpstr>
      <vt:lpstr>Calibri</vt:lpstr>
      <vt:lpstr>Garamond</vt:lpstr>
      <vt:lpstr>Garamond Bold</vt:lpstr>
      <vt:lpstr>Times New Roman</vt:lpstr>
      <vt:lpstr>TradeGothic</vt:lpstr>
      <vt:lpstr>Office Theme</vt:lpstr>
      <vt:lpstr>PowerPoint Presentation</vt:lpstr>
      <vt:lpstr>CERTIFYGUARD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Mohd Alfaiz</cp:lastModifiedBy>
  <cp:revision>175</cp:revision>
  <dcterms:created xsi:type="dcterms:W3CDTF">2013-12-12T18:46:50Z</dcterms:created>
  <dcterms:modified xsi:type="dcterms:W3CDTF">2025-09-30T02:49:11Z</dcterms:modified>
  <cp:category/>
</cp:coreProperties>
</file>